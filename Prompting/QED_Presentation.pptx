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914400"/>
            <a:ext cx="5029200" cy="5029200"/>
          </a:xfrm>
          <a:prstGeom prst="ellipse">
            <a:avLst/>
          </a:prstGeom>
          <a:solidFill>
            <a:srgbClr val="00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7772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Quantum Electrodynamics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00B4D8"/>
                </a:solidFill>
                <a:latin typeface="Calibri"/>
              </a:rPr>
              <a:t>Light and the Speed of Light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CAD3E0"/>
                </a:solidFill>
                <a:latin typeface="Calibri"/>
              </a:rPr>
              <a:t>A Physicist's Tutorial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1961" y="3931920"/>
            <a:ext cx="5485028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6B8C"/>
                </a:solidFill>
                <a:latin typeface="Calibri"/>
              </a:rPr>
              <a:t>Feynman  ·  Schwinger  ·  Tomonaga  ·  Dirac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17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D166"/>
                </a:solidFill>
                <a:latin typeface="Calibri"/>
              </a:rPr>
              <a:t>Nobel Prize in Physics 1965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Presentation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171" y="1051560"/>
            <a:ext cx="10360609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212080" cy="74980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  <a:latin typeface="Calibri"/>
              </a:rPr>
              <a:t>The Road to QED — Historical Arc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280160"/>
            <a:ext cx="5212080" cy="74980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60" y="137160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37160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  <a:latin typeface="Calibri"/>
              </a:rPr>
              <a:t>Light as a Quantum Field — The Photon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5212080" cy="74980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04288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304288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  <a:latin typeface="Calibri"/>
              </a:rPr>
              <a:t>Gauge Symmetry U(1) — Why Photons Are Massless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2212848"/>
            <a:ext cx="5212080" cy="74980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2304288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304288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  <a:latin typeface="Calibri"/>
              </a:rPr>
              <a:t>The Speed of Light in QED — Why c Is What It 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45536"/>
            <a:ext cx="5212080" cy="74980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236976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236976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  <a:latin typeface="Calibri"/>
              </a:rPr>
              <a:t>Feynman's Sum-Over-Paths — How Light Really Travels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3145536"/>
            <a:ext cx="5212080" cy="74980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3236976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236976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  <a:latin typeface="Calibri"/>
              </a:rPr>
              <a:t>Virtual vs. Real Photons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78224"/>
            <a:ext cx="5212080" cy="74980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169664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libr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169664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  <a:latin typeface="Calibri"/>
              </a:rPr>
              <a:t>The Fine Structure Constant 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4078224"/>
            <a:ext cx="5212080" cy="74980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4169664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libri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169664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  <a:latin typeface="Calibri"/>
              </a:rPr>
              <a:t>The Quantum Vacuum and Light Propagation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010912"/>
            <a:ext cx="5212080" cy="74980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10235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libri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102352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  <a:latin typeface="Calibri"/>
              </a:rPr>
              <a:t>QED's Greatest Triumphs — Theory vs. Experiment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5010912"/>
            <a:ext cx="5212080" cy="74980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510235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libri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102352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3E0"/>
                </a:solidFill>
                <a:latin typeface="Calibri"/>
              </a:rPr>
              <a:t>Modern Frontiers and Open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09728" cy="1828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6B8C"/>
                </a:solidFill>
                <a:latin typeface="Calibr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The Road to QED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11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0E0EF"/>
                </a:solidFill>
                <a:latin typeface="Calibri"/>
              </a:rPr>
              <a:t>Three revolutions that had to merge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13716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§01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Three Revolutions That Had to Merge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868680"/>
            <a:ext cx="10360609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0584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D1B2A"/>
                          </a:solidFill>
                          <a:latin typeface="Calibri"/>
                        </a:rPr>
                        <a:t>Revolution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D1B2A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D1B2A"/>
                          </a:solidFill>
                          <a:latin typeface="Calibri"/>
                        </a:rPr>
                        <a:t>Key Contribution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Maxwell's Electrodynamics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1865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c = 1/√(ε₀μ₀) ≈ 3×10⁸ m/s  ·  Light is EM waves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Special Relativity (Einstein)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1905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Spacetime unification  ·  c invariant for ALL observers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Quantum Mechanics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1900–1926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Energy quantized  ·  Wave-particle duality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46B8C"/>
                </a:solidFill>
                <a:latin typeface="Calibri"/>
              </a:rPr>
              <a:t>▶  Problem: combining QM + Special Relativity produced negative probabilities and indefinite particle number → a new framework was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13716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§01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Dirac's Equation (1928) — The First Seed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868680"/>
            <a:ext cx="10360609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CAD3E0"/>
                </a:solidFill>
                <a:latin typeface="Calibri"/>
              </a:rPr>
              <a:t>  •  Dirac sought a relativistic wave equation linear in ∂/∂t and ∇</a:t>
            </a:r>
          </a:p>
          <a:p>
            <a:pPr algn="l">
              <a:spcBef>
                <a:spcPts val="600"/>
              </a:spcBef>
            </a:pPr>
            <a:r>
              <a:rPr sz="1500" b="0" i="1">
                <a:solidFill>
                  <a:srgbClr val="FFD166"/>
                </a:solidFill>
                <a:latin typeface="Calibri"/>
              </a:rPr>
              <a:t>(iγᵘ∂ᵤ − mc/ℏ)ψ = 0</a:t>
            </a:r>
          </a:p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CAD3E0"/>
                </a:solidFill>
                <a:latin typeface="Calibri"/>
              </a:rPr>
              <a:t>  •  Correctly predicted electron spin as a relativistic necessity</a:t>
            </a:r>
          </a:p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CAD3E0"/>
                </a:solidFill>
                <a:latin typeface="Calibri"/>
              </a:rPr>
              <a:t>  •  Predicted antiparticles → positron discovered 1932 ✓</a:t>
            </a:r>
          </a:p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CAD3E0"/>
                </a:solidFill>
                <a:latin typeface="Calibri"/>
              </a:rPr>
              <a:t>  •  Still a single-particle equation — breaks down when pair creation occurs</a:t>
            </a:r>
          </a:p>
          <a:p>
            <a:pPr algn="l">
              <a:spcBef>
                <a:spcPts val="1000"/>
              </a:spcBef>
            </a:pPr>
            <a:r>
              <a:rPr sz="1700" b="1" i="0">
                <a:solidFill>
                  <a:srgbClr val="90E0EF"/>
                </a:solidFill>
                <a:latin typeface="Calibri"/>
              </a:rPr>
              <a:t>The Key Insight</a:t>
            </a:r>
          </a:p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CAD3E0"/>
                </a:solidFill>
                <a:latin typeface="Calibri"/>
              </a:rPr>
              <a:t>  •  We must promote BOTH the EM field and the electron field to quantum operators</a:t>
            </a:r>
          </a:p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CAD3E0"/>
                </a:solidFill>
                <a:latin typeface="Calibri"/>
              </a:rPr>
              <a:t>  •  Particles are excitations of underlying quantum fields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24128"/>
            <a:ext cx="10515600" cy="457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13716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§01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Founders of QED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868680"/>
            <a:ext cx="10360609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05840"/>
          <a:ext cx="112471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D1B2A"/>
                          </a:solidFill>
                          <a:latin typeface="Calibri"/>
                        </a:rPr>
                        <a:t>Physicist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D1B2A"/>
                          </a:solidFill>
                          <a:latin typeface="Calibri"/>
                        </a:rPr>
                        <a:t>Key Contribution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Richard Feynman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Path integral formulation, Feynman diagrams, pictorial rules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Julian Schwinger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Rigorous operator formalism, renormalization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Sin-Itiro Tomonaga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Independent covariant formulation (Japan, WWII)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Freeman Dyson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Proved all three approaches are mathematically equivalent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46B8C"/>
                </a:solidFill>
                <a:latin typeface="Calibri"/>
              </a:rPr>
              <a:t>▶  Nobel Prize in Physics 1965: Feynman, Schwinger, Tomonaga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09728" cy="1828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6B8C"/>
                </a:solidFill>
                <a:latin typeface="Calibr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Light as a Quantum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11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0E0EF"/>
                </a:solidFill>
                <a:latin typeface="Calibri"/>
              </a:rPr>
              <a:t>The photon — precisely defined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13716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§02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Electromagnetic Field as a Quantum Object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868680"/>
            <a:ext cx="10360609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CAD3E0"/>
                </a:solidFill>
                <a:latin typeface="Calibri"/>
              </a:rPr>
              <a:t>  •  Classical EM: 4-potential Aᵘ = (φ/c, A) satisfying Maxwell's equations</a:t>
            </a:r>
          </a:p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CAD3E0"/>
                </a:solidFill>
                <a:latin typeface="Calibri"/>
              </a:rPr>
              <a:t>  •  QED quantizes this field → photons are quanta</a:t>
            </a:r>
          </a:p>
          <a:p>
            <a:pPr algn="l">
              <a:spcBef>
                <a:spcPts val="1000"/>
              </a:spcBef>
            </a:pPr>
            <a:r>
              <a:rPr sz="1700" b="1" i="0">
                <a:solidFill>
                  <a:srgbClr val="90E0EF"/>
                </a:solidFill>
                <a:latin typeface="Calibri"/>
              </a:rPr>
              <a:t>Free EM Lagrangian density</a:t>
            </a:r>
          </a:p>
          <a:p>
            <a:pPr algn="l">
              <a:spcBef>
                <a:spcPts val="600"/>
              </a:spcBef>
            </a:pPr>
            <a:r>
              <a:rPr sz="1500" b="0" i="1">
                <a:solidFill>
                  <a:srgbClr val="FFD166"/>
                </a:solidFill>
                <a:latin typeface="Calibri"/>
              </a:rPr>
              <a:t>ℒ_EM = −(1/4) FᵘᵛFᵤᵥ     where  Fᵘᵛ = ∂ᵘAᵛ − ∂ᵛAᵘ</a:t>
            </a:r>
          </a:p>
          <a:p>
            <a:pPr algn="l">
              <a:spcBef>
                <a:spcPts val="1000"/>
              </a:spcBef>
            </a:pPr>
            <a:r>
              <a:rPr sz="1700" b="1" i="0">
                <a:solidFill>
                  <a:srgbClr val="90E0EF"/>
                </a:solidFill>
                <a:latin typeface="Calibri"/>
              </a:rPr>
              <a:t>Field operator (1D sketch)</a:t>
            </a:r>
          </a:p>
          <a:p>
            <a:pPr algn="l">
              <a:spcBef>
                <a:spcPts val="600"/>
              </a:spcBef>
            </a:pPr>
            <a:r>
              <a:rPr sz="1500" b="0" i="1">
                <a:solidFill>
                  <a:srgbClr val="FFD166"/>
                </a:solidFill>
                <a:latin typeface="Calibri"/>
              </a:rPr>
              <a:t>Â = Σₖ √(ℏ/2ωₖV) [ aₖ e^{i(kx−ωt)} + aₖ† e^{−i(kx−ωt)} ]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aₖ  :  annihilation — removes one photon of momentum ℏk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aₖ† :  creation     — adds one photon of momentum ℏk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Laser beam = coherent state (eigenstate of â)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42416"/>
            <a:ext cx="10515600" cy="457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060704"/>
            <a:ext cx="10515600" cy="457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13716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§02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What Is a Photon — Precisely?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868680"/>
            <a:ext cx="10360609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0584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D1B2A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D1B2A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D1B2A"/>
                          </a:solidFill>
                          <a:latin typeface="Calibri"/>
                        </a:rPr>
                        <a:t>Physical Significance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Rest mass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Must travel at exactly c · No rest frame exists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Spin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Vector boson · Only two transverse polarization states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Electric charge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Does not self-interact at tree level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Helicity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±ℏ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Left- and right-circular polarization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Wavelength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E=hf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Energy quantized in units hf (Planck 1900)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46B8C"/>
                </a:solidFill>
                <a:latin typeface="Calibri"/>
              </a:rPr>
              <a:t>▶  A laser beam is a coherent state of photons — photon number is maximally uncertain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13716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§02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Photon Number Is NOT Always Defined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868680"/>
            <a:ext cx="10360609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CAD3E0"/>
                </a:solidFill>
                <a:latin typeface="Calibri"/>
              </a:rPr>
              <a:t>  •  In a coherent state (classical light), photon number N is completely uncertain</a:t>
            </a:r>
          </a:p>
          <a:p>
            <a:pPr algn="l">
              <a:spcBef>
                <a:spcPts val="600"/>
              </a:spcBef>
            </a:pPr>
            <a:r>
              <a:rPr sz="1500" b="0" i="1">
                <a:solidFill>
                  <a:srgbClr val="FFD166"/>
                </a:solidFill>
                <a:latin typeface="Calibri"/>
              </a:rPr>
              <a:t>ΔN · Δφ ≥ 1/2       (number–phase uncertainty relation)</a:t>
            </a:r>
          </a:p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CAD3E0"/>
                </a:solidFill>
                <a:latin typeface="Calibri"/>
              </a:rPr>
              <a:t>  •  Definite phase φ  →  completely indefinite N</a:t>
            </a:r>
          </a:p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CAD3E0"/>
                </a:solidFill>
                <a:latin typeface="Calibri"/>
              </a:rPr>
              <a:t>  •  A Fock state (exactly N photons)  →  completely indefinite phase</a:t>
            </a:r>
          </a:p>
          <a:p>
            <a:pPr algn="l">
              <a:spcBef>
                <a:spcPts val="1000"/>
              </a:spcBef>
            </a:pPr>
            <a:r>
              <a:rPr sz="1700" b="1" i="0">
                <a:solidFill>
                  <a:srgbClr val="90E0EF"/>
                </a:solidFill>
                <a:latin typeface="Calibri"/>
              </a:rPr>
              <a:t>Consequences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You cannot simultaneously know 'how many photons' and 'what phase'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This is not a measurement limitation — it is a fundamental quantum reality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Single-photon states have been created and detected in lab (quantum optics)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24128"/>
            <a:ext cx="10515600" cy="457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029200"/>
            <a:ext cx="11430000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5029200"/>
            <a:ext cx="73152" cy="7772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1054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D166"/>
                </a:solidFill>
                <a:latin typeface="Calibri"/>
              </a:rPr>
              <a:t>"The photon is not a small bright ball — it is a quantum excitation of a field that fills all of space."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09728" cy="1828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6B8C"/>
                </a:solidFill>
                <a:latin typeface="Calibri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Gauge Symmetry U(1)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11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0E0EF"/>
                </a:solidFill>
                <a:latin typeface="Calibri"/>
              </a:rPr>
              <a:t>The deep reason photons are exactly massless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13716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§03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QED Lagrangian — The Complete Theory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868680"/>
            <a:ext cx="10360609" cy="1905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4712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73152" cy="65836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02360"/>
            <a:ext cx="6858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FFD166"/>
                </a:solidFill>
                <a:latin typeface="Calibri"/>
              </a:rPr>
              <a:t>ℒ_QED = ψ̄(iγᵘDᵤ − mc/ℏ)ψ − (1/4)FᵘᵛFᵤᵥ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15316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  <a:latin typeface="Calibri"/>
              </a:rPr>
              <a:t>Full QED Lagrangian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20"/>
            <a:ext cx="1124712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74520"/>
            <a:ext cx="73152" cy="65836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25320"/>
            <a:ext cx="6858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FFD166"/>
                </a:solidFill>
                <a:latin typeface="Calibri"/>
              </a:rPr>
              <a:t>Dᵤ = ∂ᵤ + i(e/ℏc)Aᵤ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97612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  <a:latin typeface="Calibri"/>
              </a:rPr>
              <a:t>Covariant derivative (couples e⁻ to photon)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97480"/>
            <a:ext cx="1124712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97480"/>
            <a:ext cx="73152" cy="65836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748280"/>
            <a:ext cx="6858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FFD166"/>
                </a:solidFill>
                <a:latin typeface="Calibri"/>
              </a:rPr>
              <a:t>ψ(x) → e^{iα(x)} ψ(x)   and   Aᵤ → Aᵤ − (ℏc/e)∂ᵤα(x)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79908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  <a:latin typeface="Calibri"/>
              </a:rPr>
              <a:t>Local U(1) gauge transformation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11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  <a:latin typeface="Calibri"/>
              </a:rPr>
              <a:t>The Lagrangian is invariant under this transformation for ANY smooth function α(x). This local symmetry is the mathematical origin of electromagnetism itself.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13716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§03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Why Gauge Symmetry Forces Zero Photon Mass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868680"/>
            <a:ext cx="10360609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CAD3E0"/>
                </a:solidFill>
                <a:latin typeface="Calibri"/>
              </a:rPr>
              <a:t>  •  A photon mass term would look like:</a:t>
            </a:r>
          </a:p>
          <a:p>
            <a:pPr algn="l">
              <a:spcBef>
                <a:spcPts val="600"/>
              </a:spcBef>
            </a:pPr>
            <a:r>
              <a:rPr sz="1500" b="0" i="1">
                <a:solidFill>
                  <a:srgbClr val="FFD166"/>
                </a:solidFill>
                <a:latin typeface="Calibri"/>
              </a:rPr>
              <a:t>ℒ_mass = (1/2)(m_γ c/ℏ)² AᵘAᵤ</a:t>
            </a:r>
          </a:p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CAD3E0"/>
                </a:solidFill>
                <a:latin typeface="Calibri"/>
              </a:rPr>
              <a:t>  •  Under gauge transformation: Aᵤ → Aᵤ + ∂ᵤα</a:t>
            </a:r>
          </a:p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CAD3E0"/>
                </a:solidFill>
                <a:latin typeface="Calibri"/>
              </a:rPr>
              <a:t>  •  So: AᵘAᵤ → (Aᵘ + ∂ᵘα)(Aᵤ + ∂ᵤα) ≠ AᵘAᵤ</a:t>
            </a:r>
          </a:p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CAD3E0"/>
                </a:solidFill>
                <a:latin typeface="Calibri"/>
              </a:rPr>
              <a:t>  •  The mass term BREAKS gauge invariance</a:t>
            </a:r>
          </a:p>
          <a:p>
            <a:pPr algn="l">
              <a:spcBef>
                <a:spcPts val="1000"/>
              </a:spcBef>
            </a:pPr>
            <a:r>
              <a:rPr sz="1700" b="1" i="0">
                <a:solidFill>
                  <a:srgbClr val="90E0EF"/>
                </a:solidFill>
                <a:latin typeface="Calibri"/>
              </a:rPr>
              <a:t>Conclusion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Gauge symmetry ⟹ m_γ = 0  (exactly, not approximately)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Ward–Takahashi identity protects this at ALL loop orders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Current experimental bound:  m_γ &lt; 10⁻²⁷ eV/c²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This is 22 orders of magnitude smaller than the electron mass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24128"/>
            <a:ext cx="10515600" cy="457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46B8C"/>
                </a:solidFill>
                <a:latin typeface="Calibri"/>
              </a:rPr>
              <a:t>▶  Ward–Takahashi: the photon self-energy Πᵘᵛ(q) must always be transverse: qᵤΠᵘᵛ = 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09728" cy="1828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6B8C"/>
                </a:solidFill>
                <a:latin typeface="Calibr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The Speed of Light in QED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11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0E0EF"/>
                </a:solidFill>
                <a:latin typeface="Calibri"/>
              </a:rPr>
              <a:t>Why c is what it is — and what it really means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13716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§04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 Is the Speed of Causality, Not Just Light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868680"/>
            <a:ext cx="10360609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CAD3E0"/>
                </a:solidFill>
                <a:latin typeface="Calibri"/>
              </a:rPr>
              <a:t>  •  c is best understood as the maximum speed of information transfer</a:t>
            </a:r>
          </a:p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CAD3E0"/>
                </a:solidFill>
                <a:latin typeface="Calibri"/>
              </a:rPr>
              <a:t>  •  It is the conversion factor between space and time in Minkowski geometry:</a:t>
            </a:r>
          </a:p>
          <a:p>
            <a:pPr algn="l">
              <a:spcBef>
                <a:spcPts val="600"/>
              </a:spcBef>
            </a:pPr>
            <a:r>
              <a:rPr sz="1500" b="0" i="1">
                <a:solidFill>
                  <a:srgbClr val="FFD166"/>
                </a:solidFill>
                <a:latin typeface="Calibri"/>
              </a:rPr>
              <a:t>ds² = c²dt² − dx² − dy² − dz²</a:t>
            </a:r>
          </a:p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CAD3E0"/>
                </a:solidFill>
                <a:latin typeface="Calibri"/>
              </a:rPr>
              <a:t>  •  Massless particles travel on null geodesics where ds² = 0:</a:t>
            </a:r>
          </a:p>
          <a:p>
            <a:pPr algn="l">
              <a:spcBef>
                <a:spcPts val="600"/>
              </a:spcBef>
            </a:pPr>
            <a:r>
              <a:rPr sz="1500" b="0" i="1">
                <a:solidFill>
                  <a:srgbClr val="FFD166"/>
                </a:solidFill>
                <a:latin typeface="Calibri"/>
              </a:rPr>
              <a:t>ds² = 0  ⟹  c²dt² = |dx|²  ⟹  |v| = c</a:t>
            </a:r>
          </a:p>
          <a:p>
            <a:pPr algn="l">
              <a:spcBef>
                <a:spcPts val="1000"/>
              </a:spcBef>
            </a:pPr>
            <a:r>
              <a:rPr sz="1700" b="1" i="0">
                <a:solidFill>
                  <a:srgbClr val="90E0EF"/>
                </a:solidFill>
                <a:latin typeface="Calibri"/>
              </a:rPr>
              <a:t>Key insight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This is a geometric consequence of zero rest mass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Not a special property of EM radiation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ANY massless particle (graviton, gluon) travels at exactly c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In Planck units: c = 1 — absorbed into the geometry of spacetime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33272"/>
            <a:ext cx="10515600" cy="457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051560"/>
            <a:ext cx="10515600" cy="457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13716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§04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From Maxwell to c — Classical Derivation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868680"/>
            <a:ext cx="10360609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CAD3E0"/>
                </a:solidFill>
                <a:latin typeface="Calibri"/>
              </a:rPr>
              <a:t>  •  Maxwell's equations in vacuum give the wave equation:</a:t>
            </a:r>
          </a:p>
          <a:p>
            <a:pPr algn="l">
              <a:spcBef>
                <a:spcPts val="600"/>
              </a:spcBef>
            </a:pPr>
            <a:r>
              <a:rPr sz="1500" b="0" i="1">
                <a:solidFill>
                  <a:srgbClr val="FFD166"/>
                </a:solidFill>
                <a:latin typeface="Calibri"/>
              </a:rPr>
              <a:t>∇²E = ε₀μ₀ ∂²E/∂t²       ⟹      c = 1/√(ε₀μ₀)</a:t>
            </a:r>
          </a:p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CAD3E0"/>
                </a:solidFill>
                <a:latin typeface="Calibri"/>
              </a:rPr>
              <a:t>  •  In QED: ε₀ and μ₀ arise from the coupling constant e and vacuum structure</a:t>
            </a:r>
          </a:p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CAD3E0"/>
                </a:solidFill>
                <a:latin typeface="Calibri"/>
              </a:rPr>
              <a:t>  •  The fine structure constant encodes EM strength:</a:t>
            </a:r>
          </a:p>
          <a:p>
            <a:pPr algn="l">
              <a:spcBef>
                <a:spcPts val="600"/>
              </a:spcBef>
            </a:pPr>
            <a:r>
              <a:rPr sz="1500" b="0" i="1">
                <a:solidFill>
                  <a:srgbClr val="FFD166"/>
                </a:solidFill>
                <a:latin typeface="Calibri"/>
              </a:rPr>
              <a:t>α = e² / (4πε₀ℏc) ≈ 1/137</a:t>
            </a:r>
          </a:p>
          <a:p>
            <a:pPr algn="l">
              <a:spcBef>
                <a:spcPts val="1000"/>
              </a:spcBef>
            </a:pPr>
            <a:r>
              <a:rPr sz="1700" b="1" i="0">
                <a:solidFill>
                  <a:srgbClr val="90E0EF"/>
                </a:solidFill>
                <a:latin typeface="Calibri"/>
              </a:rPr>
              <a:t>Running of c in the Quantum Vacuum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Virtual e⁺e⁻ pairs make the vacuum polarizable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QED effective Lagrangian (Euler-Heisenberg) in strong fields:</a:t>
            </a:r>
          </a:p>
          <a:p>
            <a:pPr algn="l">
              <a:spcBef>
                <a:spcPts val="600"/>
              </a:spcBef>
            </a:pPr>
            <a:r>
              <a:rPr sz="1500" b="0" i="1">
                <a:solidFill>
                  <a:srgbClr val="FFD166"/>
                </a:solidFill>
                <a:latin typeface="Calibri"/>
              </a:rPr>
              <a:t>δℒ ~ (α²/90π²)(ℏ³/m⁴c⁵)[4(E²−c²B²)² + 7c²(E·B)²]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Leads to vacuum birefringence in extreme fields (B &gt; B_c ~ 4.4×10⁹ T)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24128"/>
            <a:ext cx="10515600" cy="457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051560"/>
            <a:ext cx="10515600" cy="457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088136"/>
            <a:ext cx="10515600" cy="457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46B8C"/>
                </a:solidFill>
                <a:latin typeface="Calibri"/>
              </a:rPr>
              <a:t>▶  Confirmed 2017: vacuum birefringence observed in polarised X-rays from neutron star RX J1856.5−3754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13716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§04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 in Different Frameworks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868680"/>
            <a:ext cx="10360609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0584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D1B2A"/>
                          </a:solidFill>
                          <a:latin typeface="Calibri"/>
                        </a:rPr>
                        <a:t>Framework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D1B2A"/>
                          </a:solidFill>
                          <a:latin typeface="Calibri"/>
                        </a:rPr>
                        <a:t>Role of c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Special Relativity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Invariant speed; unifies space and time in Minkowski metric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Maxwell Electrodynamics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Phase velocity of EM waves in vacuum = 1/√(ε₀μ₀)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QED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Speed of the massless U(1) gauge boson; set by Lorentz invariance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Planck units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c = 1 (dimensionless) — geometry absorbs it completely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Cosmology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Determines light-travel distance and observable universe size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09728" cy="1828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6B8C"/>
                </a:solidFill>
                <a:latin typeface="Calibri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Feynman's Sum-Over-Paths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11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0E0EF"/>
                </a:solidFill>
                <a:latin typeface="Calibri"/>
              </a:rPr>
              <a:t>How light really travels — all paths simultaneously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13716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§05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Path Integral Formulation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868680"/>
            <a:ext cx="10360609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CAD3E0"/>
                </a:solidFill>
                <a:latin typeface="Calibri"/>
              </a:rPr>
              <a:t>  •  A quantum particle does not travel a single path</a:t>
            </a:r>
          </a:p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CAD3E0"/>
                </a:solidFill>
                <a:latin typeface="Calibri"/>
              </a:rPr>
              <a:t>  •  It simultaneously explores ALL possible paths</a:t>
            </a:r>
          </a:p>
          <a:p>
            <a:pPr algn="l">
              <a:spcBef>
                <a:spcPts val="600"/>
              </a:spcBef>
            </a:pPr>
            <a:r>
              <a:rPr sz="1500" b="0" i="1">
                <a:solidFill>
                  <a:srgbClr val="FFD166"/>
                </a:solidFill>
                <a:latin typeface="Calibri"/>
              </a:rPr>
              <a:t>⟨B|A⟩ = ∫ 𝒟[paths] e^{iS[path]/ℏ}</a:t>
            </a:r>
          </a:p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CAD3E0"/>
                </a:solidFill>
                <a:latin typeface="Calibri"/>
              </a:rPr>
              <a:t>  •  Every path contributes a phase factor e^{iS/ℏ}</a:t>
            </a:r>
          </a:p>
          <a:p>
            <a:pPr algn="l">
              <a:spcBef>
                <a:spcPts val="1000"/>
              </a:spcBef>
            </a:pPr>
            <a:r>
              <a:rPr sz="1700" b="1" i="0">
                <a:solidFill>
                  <a:srgbClr val="90E0EF"/>
                </a:solidFill>
                <a:latin typeface="Calibri"/>
              </a:rPr>
              <a:t>Why Light Appears to Travel in Straight Lines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Near classical path: S varies slowly → phases align → constructive interference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Far from classical path: S varies rapidly → phases cancel → destructive interference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This is the principle of stationary phase: δS = 0 ⟺ classical path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Fermat's principle of least time is recovered as ℏ → 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33272"/>
            <a:ext cx="10515600" cy="457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029200"/>
            <a:ext cx="11430000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5029200"/>
            <a:ext cx="73152" cy="7772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1054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D166"/>
                </a:solidFill>
                <a:latin typeface="Calibri"/>
              </a:rPr>
              <a:t>"Light doesn't really travel in straight lines — it samples all paths. It only appears to because the non-classical paths cancel out. — Feynman"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13716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§05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Feynman Diagram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868680"/>
            <a:ext cx="10360609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CAD3E0"/>
                </a:solidFill>
                <a:latin typeface="Calibri"/>
              </a:rPr>
              <a:t>  •  QED solved perturbatively in powers of  α ≈ 1/137</a:t>
            </a:r>
          </a:p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CAD3E0"/>
                </a:solidFill>
                <a:latin typeface="Calibri"/>
              </a:rPr>
              <a:t>  •  Each order represented by a Feynman diagram</a:t>
            </a:r>
          </a:p>
          <a:p>
            <a:pPr algn="l">
              <a:spcBef>
                <a:spcPts val="1000"/>
              </a:spcBef>
            </a:pPr>
            <a:r>
              <a:rPr sz="1700" b="1" i="0">
                <a:solidFill>
                  <a:srgbClr val="90E0EF"/>
                </a:solidFill>
                <a:latin typeface="Calibri"/>
              </a:rPr>
              <a:t>Diagram elements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Straight lines with arrows  →  electrons / positrons (fermion propagator)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Wavy lines                →  photons (boson propagator)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Each vertex contributes:  −ieγᵘ  and a factor √α to amplitude</a:t>
            </a:r>
          </a:p>
          <a:p>
            <a:pPr algn="l">
              <a:spcBef>
                <a:spcPts val="1000"/>
              </a:spcBef>
            </a:pPr>
            <a:r>
              <a:rPr sz="1700" b="1" i="0">
                <a:solidFill>
                  <a:srgbClr val="90E0EF"/>
                </a:solidFill>
                <a:latin typeface="Calibri"/>
              </a:rPr>
              <a:t>Why perturbation theory works</a:t>
            </a:r>
          </a:p>
          <a:p>
            <a:pPr algn="l">
              <a:spcBef>
                <a:spcPts val="600"/>
              </a:spcBef>
            </a:pPr>
            <a:r>
              <a:rPr sz="1500" b="0" i="1">
                <a:solidFill>
                  <a:srgbClr val="FFD166"/>
                </a:solidFill>
                <a:latin typeface="Calibri"/>
              </a:rPr>
              <a:t>A = A₀ + A₁(α/π) + A₂(α/π)² + ...      α/π ≈ 0.0023 ≪ 1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Each loop adds a factor of α/π — series converges extremely rapidly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This is why QED is the most precise theory in all of physics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78992"/>
            <a:ext cx="10515600" cy="457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09728" cy="1828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6B8C"/>
                </a:solidFill>
                <a:latin typeface="Calibri"/>
              </a:rP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Virtual vs. Real Photons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11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0E0EF"/>
                </a:solidFill>
                <a:latin typeface="Calibri"/>
              </a:rPr>
              <a:t>What actually mediates electromagnetic forces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13716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§06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Real vs. Virtual Photons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868680"/>
            <a:ext cx="10360609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0584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D1B2A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D1B2A"/>
                          </a:solidFill>
                          <a:latin typeface="Calibri"/>
                        </a:rPr>
                        <a:t>Real Photon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D1B2A"/>
                          </a:solidFill>
                          <a:latin typeface="Calibri"/>
                        </a:rPr>
                        <a:t>Virtual Photon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On-shell condition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pᵘpᵤ = 0  (E = |p|c)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p² can be anything — spacelike, timelike, null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Travel speed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Exactly c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Not defined — internal line only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Detection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Yes — carries energy to detector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No — mathematical propagator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Polarization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Transverse only (2 states)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All 4 polarizations (gauge-fixed)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Physical role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Real radiation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Static fields, bound states, forces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46B8C"/>
                </a:solidFill>
                <a:latin typeface="Calibri"/>
              </a:rPr>
              <a:t>▶  The Coulomb 1/r potential emerges from the Fourier transform of the virtual photon propagator 1/q²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13716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§06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Coulomb Force — Virtual Photons at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868680"/>
            <a:ext cx="10360609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CAD3E0"/>
                </a:solidFill>
                <a:latin typeface="Calibri"/>
              </a:rPr>
              <a:t>  •  Electrostatic repulsion = tree-level exchange of one virtual photon</a:t>
            </a:r>
          </a:p>
          <a:p>
            <a:pPr algn="l">
              <a:spcBef>
                <a:spcPts val="1000"/>
              </a:spcBef>
            </a:pPr>
            <a:r>
              <a:rPr sz="1700" b="1" i="0">
                <a:solidFill>
                  <a:srgbClr val="90E0EF"/>
                </a:solidFill>
                <a:latin typeface="Calibri"/>
              </a:rPr>
              <a:t>Electron scattering diagram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e⁻ ──────●──────────────── e⁻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|  (virtual γ, q² &lt; 0)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e⁻ ──────●──────────────── e⁻</a:t>
            </a:r>
          </a:p>
          <a:p>
            <a:pPr algn="l">
              <a:spcBef>
                <a:spcPts val="1000"/>
              </a:spcBef>
            </a:pPr>
            <a:r>
              <a:rPr sz="1700" b="1" i="0">
                <a:solidFill>
                  <a:srgbClr val="90E0EF"/>
                </a:solidFill>
                <a:latin typeface="Calibri"/>
              </a:rPr>
              <a:t>Result</a:t>
            </a:r>
          </a:p>
          <a:p>
            <a:pPr algn="l">
              <a:spcBef>
                <a:spcPts val="600"/>
              </a:spcBef>
            </a:pPr>
            <a:r>
              <a:rPr sz="1500" b="0" i="1">
                <a:solidFill>
                  <a:srgbClr val="FFD166"/>
                </a:solidFill>
                <a:latin typeface="Calibri"/>
              </a:rPr>
              <a:t>V(r) = e² / (4πε₀r)       (Coulomb potential)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1/r potential = Fourier transform of propagator 1/q² in 3D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The 'force' is not fundamental — it is emergent from field exchange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69848"/>
            <a:ext cx="10515600" cy="457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029200"/>
            <a:ext cx="11430000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5029200"/>
            <a:ext cx="73152" cy="7772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1054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D166"/>
                </a:solidFill>
                <a:latin typeface="Calibri"/>
              </a:rPr>
              <a:t>"Forces are not fundamental — they are the macroscopic shadow of quantum field exchange."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09728" cy="1828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6B8C"/>
                </a:solidFill>
                <a:latin typeface="Calibri"/>
              </a:rPr>
              <a:t>Section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The Fine Structure Constant 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11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0E0EF"/>
                </a:solidFill>
                <a:latin typeface="Calibri"/>
              </a:rPr>
              <a:t>The number that rules electromagnetism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13716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§07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α — Definition and Physical Meaning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868680"/>
            <a:ext cx="10360609" cy="1905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4712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73152" cy="65836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02360"/>
            <a:ext cx="6858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FFD166"/>
                </a:solidFill>
                <a:latin typeface="Calibri"/>
              </a:rPr>
              <a:t>α = e² / (4πε₀ℏc)  ≈  1/137.035 999 084(21)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15316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  <a:latin typeface="Calibri"/>
              </a:rPr>
              <a:t>Dimensionless coupling constant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20"/>
            <a:ext cx="1124712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74520"/>
            <a:ext cx="73152" cy="65836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25320"/>
            <a:ext cx="6858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FFD166"/>
                </a:solidFill>
                <a:latin typeface="Calibri"/>
              </a:rPr>
              <a:t>E_n = −α²m_ec²/2n²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97612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  <a:latin typeface="Calibri"/>
              </a:rPr>
              <a:t>Hydrogen energy levels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97480"/>
            <a:ext cx="1124712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97480"/>
            <a:ext cx="73152" cy="65836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748280"/>
            <a:ext cx="6858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FFD166"/>
                </a:solidFill>
                <a:latin typeface="Calibri"/>
              </a:rPr>
              <a:t>a_e = (g−2)/2 = α/(2π) − 0.328(α/π)² + 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79908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  <a:latin typeface="Calibri"/>
              </a:rPr>
              <a:t>Electron anomalous magnetic moment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20440"/>
            <a:ext cx="1124712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520440"/>
            <a:ext cx="73152" cy="65836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71240"/>
            <a:ext cx="6858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FFD166"/>
                </a:solidFill>
                <a:latin typeface="Calibri"/>
              </a:rPr>
              <a:t>σ_Thomson ~ α² / m_e²c⁴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36220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  <a:latin typeface="Calibri"/>
              </a:rPr>
              <a:t>Compton / Thomson cross section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348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  <a:latin typeface="Calibri"/>
              </a:rPr>
              <a:t>α encodes the strength of the coupling between electrons and photons. It is the single most important number in atomic physics.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13716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§07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Running of α — It Changes with Energy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868680"/>
            <a:ext cx="10360609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CAD3E0"/>
                </a:solidFill>
                <a:latin typeface="Calibri"/>
              </a:rPr>
              <a:t>  •  α is not fixed — it runs with energy scale Q due to vacuum polarization</a:t>
            </a:r>
          </a:p>
          <a:p>
            <a:pPr algn="l">
              <a:spcBef>
                <a:spcPts val="600"/>
              </a:spcBef>
            </a:pPr>
            <a:r>
              <a:rPr sz="1500" b="0" i="1">
                <a:solidFill>
                  <a:srgbClr val="FFD166"/>
                </a:solidFill>
                <a:latin typeface="Calibri"/>
              </a:rPr>
              <a:t>α(Q²) = α(0) / [1 − (α/3π) ln(Q²/m_e²c⁴) + ...]</a:t>
            </a:r>
          </a:p>
          <a:p>
            <a:pPr algn="l">
              <a:spcBef>
                <a:spcPts val="1000"/>
              </a:spcBef>
            </a:pPr>
            <a:r>
              <a:rPr sz="1700" b="1" i="0">
                <a:solidFill>
                  <a:srgbClr val="90E0EF"/>
                </a:solidFill>
                <a:latin typeface="Calibri"/>
              </a:rPr>
              <a:t>Measured values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Q → 0     (Thomson limit):     α ≈ 1/137.036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Q = m_e c²  (0.511 MeV):        α ≈ 1/137.0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Q = m_Z c²  (91.2 GeV, LEP):    α ≈ 1/128.9</a:t>
            </a:r>
          </a:p>
          <a:p>
            <a:pPr algn="l">
              <a:spcBef>
                <a:spcPts val="1000"/>
              </a:spcBef>
            </a:pPr>
            <a:r>
              <a:rPr sz="1700" b="1" i="0">
                <a:solidFill>
                  <a:srgbClr val="90E0EF"/>
                </a:solidFill>
                <a:latin typeface="Calibri"/>
              </a:rPr>
              <a:t>Why does α run?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Virtual e⁺e⁻ pairs screen the bare charge at low energies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At higher Q, you probe inside the screening cloud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At very high E: α → O(1) — perturbation theory eventually fails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24128"/>
            <a:ext cx="10515600" cy="457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029200"/>
            <a:ext cx="11430000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5029200"/>
            <a:ext cx="73152" cy="7772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1054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D166"/>
                </a:solidFill>
                <a:latin typeface="Calibri"/>
              </a:rPr>
              <a:t>"All good theoretical physicists put this number up on their wall and worry about it. — Feynman"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09728" cy="1828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6B8C"/>
                </a:solidFill>
                <a:latin typeface="Calibri"/>
              </a:rPr>
              <a:t>Section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The Quantum Vacuum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11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0E0EF"/>
                </a:solidFill>
                <a:latin typeface="Calibri"/>
              </a:rPr>
              <a:t>Empty space is not empty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13716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§08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What Lives in the Vacuum?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868680"/>
            <a:ext cx="10360609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CAD3E0"/>
                </a:solidFill>
                <a:latin typeface="Calibri"/>
              </a:rPr>
              <a:t>  •  The vacuum state |0⟩ is the ground state of the quantum field — NOT nothingness</a:t>
            </a:r>
          </a:p>
          <a:p>
            <a:pPr algn="l">
              <a:spcBef>
                <a:spcPts val="1000"/>
              </a:spcBef>
            </a:pPr>
            <a:r>
              <a:rPr sz="1700" b="1" i="0">
                <a:solidFill>
                  <a:srgbClr val="90E0EF"/>
                </a:solidFill>
                <a:latin typeface="Calibri"/>
              </a:rPr>
              <a:t>Vacuum contains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Zero-point fluctuations of the EM field:  ⟨0|E²|0⟩ ≠ 0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Virtual particle-antiparticle pairs (constantly appearing/annihilating)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Non-zero vacuum energy density</a:t>
            </a:r>
          </a:p>
          <a:p>
            <a:pPr algn="l">
              <a:spcBef>
                <a:spcPts val="1000"/>
              </a:spcBef>
            </a:pPr>
            <a:r>
              <a:rPr sz="1700" b="1" i="0">
                <a:solidFill>
                  <a:srgbClr val="90E0EF"/>
                </a:solidFill>
                <a:latin typeface="Calibri"/>
              </a:rPr>
              <a:t>Three measurable consequences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Casimir Effect — force between uncharged conductors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Lamb Shift — atomic energy levels shifted by vacuum fluctuations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Spontaneous Emission — atoms must radiate even in 'empty' space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029200"/>
            <a:ext cx="11430000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5029200"/>
            <a:ext cx="73152" cy="7772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1054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D166"/>
                </a:solidFill>
                <a:latin typeface="Calibri"/>
              </a:rPr>
              <a:t>"An atom in empty space is never truly isolated — it is always coupled to vacuum fluctuations of the QED field."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13716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§08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Vacuum Effects — Theory vs. Experiment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868680"/>
            <a:ext cx="10360609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05840"/>
          <a:ext cx="112471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D1B2A"/>
                          </a:solidFill>
                          <a:latin typeface="Calibri"/>
                        </a:rPr>
                        <a:t>Effect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D1B2A"/>
                          </a:solidFill>
                          <a:latin typeface="Calibri"/>
                        </a:rPr>
                        <a:t>QED Prediction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D1B2A"/>
                          </a:solidFill>
                          <a:latin typeface="Calibri"/>
                        </a:rPr>
                        <a:t>Measurement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D1B2A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Casimir pressure (d=100nm)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P = −π²ℏc / 240d⁴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~1.3×10⁻⁴ N/m²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Confirmed ~1%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Lamb shift (H atom)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1057.859 MHz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1057.845 ± 0.10 MHz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Confirmed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Vacuum birefringence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n∥ ≠ n⊥ in B field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Observed in neutron star 2017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Confirmed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Schwinger pair production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Rate ~ exp(−πE_c/E)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E_c ~ 1.3×10¹⁸ V/m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Not yet observed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09728" cy="1828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6B8C"/>
                </a:solidFill>
                <a:latin typeface="Calibri"/>
              </a:rPr>
              <a:t>Section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QED's Greatest Triumphs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11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0E0EF"/>
                </a:solidFill>
                <a:latin typeface="Calibri"/>
              </a:rPr>
              <a:t>The most precisely tested theory in the history of science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13716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§09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Agreement Between QED Theory and Experiment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868680"/>
            <a:ext cx="10360609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2720340" cy="3474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26289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D8"/>
                </a:solidFill>
                <a:latin typeface="Calibri"/>
              </a:rPr>
              <a:t>12
sig. figs.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26289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AD3E0"/>
                </a:solidFill>
                <a:latin typeface="Calibri"/>
              </a:rPr>
              <a:t>Electron g−2
anomalous magnetic moment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4700" y="1280160"/>
            <a:ext cx="2720340" cy="3474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0420" y="1737360"/>
            <a:ext cx="26289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D8"/>
                </a:solidFill>
                <a:latin typeface="Calibri"/>
              </a:rPr>
              <a:t>10
sig. figs.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0420" y="3566160"/>
            <a:ext cx="26289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AD3E0"/>
                </a:solidFill>
                <a:latin typeface="Calibri"/>
              </a:rPr>
              <a:t>Hydrogen Lamb shift
energy splitting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2720340" cy="3474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737360"/>
            <a:ext cx="26289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D8"/>
                </a:solidFill>
                <a:latin typeface="Calibri"/>
              </a:rPr>
              <a:t>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566160"/>
            <a:ext cx="26289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AD3E0"/>
                </a:solidFill>
                <a:latin typeface="Calibri"/>
              </a:rPr>
              <a:t>Casimir effect
vacuum force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38260" y="1280160"/>
            <a:ext cx="2720340" cy="3474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3980" y="1737360"/>
            <a:ext cx="26289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D8"/>
                </a:solidFill>
                <a:latin typeface="Calibri"/>
              </a:rPr>
              <a:t>2017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3980" y="3566160"/>
            <a:ext cx="26289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AD3E0"/>
                </a:solidFill>
                <a:latin typeface="Calibri"/>
              </a:rPr>
              <a:t>Light-by-light
scattering confirmed
at LHC (ATLAS)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206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D166"/>
                </a:solidFill>
                <a:latin typeface="Calibri"/>
              </a:rPr>
              <a:t>Equivalent to measuring the New York–Los Angeles distance to within the width of a human hair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13716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§09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Electron Anomalous Magnetic Moment — g−2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868680"/>
            <a:ext cx="10360609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05840"/>
          <a:ext cx="112471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D1B2A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D1B2A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QED Theory  (aₑ)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0.001 159 652 181 643 (764)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Experiment  (aₑ)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0.001 159 652 180 73 (28)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Agreement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12 significant figures ← most precise in all of science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Physical meaning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Electron spin precesses slightly faster than Dirac's prediction due to vacuum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46B8C"/>
                </a:solidFill>
                <a:latin typeface="Calibri"/>
              </a:rPr>
              <a:t>▶  Each additional loop order contributes α/π ≈ 0.0023 — five-loop calculation required for current precision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13716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§09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All Major QED Tests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868680"/>
            <a:ext cx="10360609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0584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D1B2A"/>
                          </a:solidFill>
                          <a:latin typeface="Calibri"/>
                        </a:rPr>
                        <a:t>Prediction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D1B2A"/>
                          </a:solidFill>
                          <a:latin typeface="Calibri"/>
                        </a:rPr>
                        <a:t>Agreement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Electron g−2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12 significant figures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Muon g−2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10 sig. figs. (4.2σ tension — possible BSM physics!)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Hydrogen Lamb shift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10 significant figures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Compton / Bhabha scattering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Excellent across all energies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Casimir effect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~1% precision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Light-by-light scattering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First observed at LHC, 2017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Vacuum birefringence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Confirmed in neutron star X-ray polarimetry, 2017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09728" cy="1828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6B8C"/>
                </a:solidFill>
                <a:latin typeface="Calibri"/>
              </a:rPr>
              <a:t>Section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Modern Frontiers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11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0E0EF"/>
                </a:solidFill>
                <a:latin typeface="Calibri"/>
              </a:rPr>
              <a:t>Where QED meets the unknown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13716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§10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Muon g−2 Anomaly — A Crack in the Wall?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868680"/>
            <a:ext cx="10360609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CAD3E0"/>
                </a:solidFill>
                <a:latin typeface="Calibri"/>
              </a:rPr>
              <a:t>  •  Muon anomalous magnetic moment shows ~4.2σ deviation from SM prediction</a:t>
            </a:r>
          </a:p>
          <a:p>
            <a:pPr algn="l">
              <a:spcBef>
                <a:spcPts val="600"/>
              </a:spcBef>
            </a:pPr>
            <a:r>
              <a:rPr sz="1500" b="0" i="1">
                <a:solidFill>
                  <a:srgbClr val="FFD166"/>
                </a:solidFill>
                <a:latin typeface="Calibri"/>
              </a:rPr>
              <a:t>Δaμ = a_μ^exp − a_μ^theory ≈ 249 × 10⁻¹¹</a:t>
            </a:r>
          </a:p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CAD3E0"/>
                </a:solidFill>
                <a:latin typeface="Calibri"/>
              </a:rPr>
              <a:t>  •  Fermilab Muon g-2 Experiment (2021–2023) confirms earlier BNL result</a:t>
            </a:r>
          </a:p>
          <a:p>
            <a:pPr algn="l">
              <a:spcBef>
                <a:spcPts val="1000"/>
              </a:spcBef>
            </a:pPr>
            <a:r>
              <a:rPr sz="1700" b="1" i="0">
                <a:solidFill>
                  <a:srgbClr val="90E0EF"/>
                </a:solidFill>
                <a:latin typeface="Calibri"/>
              </a:rPr>
              <a:t>Possible explanations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New heavy particles coupling to muons (dark photon, Z', leptoquark)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Supersymmetric particles in loop diagrams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Possible QCD hadronic vacuum polarization error (debate ongoing)</a:t>
            </a:r>
          </a:p>
          <a:p>
            <a:pPr algn="l">
              <a:spcBef>
                <a:spcPts val="1000"/>
              </a:spcBef>
            </a:pPr>
            <a:r>
              <a:rPr sz="1700" b="1" i="0">
                <a:solidFill>
                  <a:srgbClr val="90E0EF"/>
                </a:solidFill>
                <a:latin typeface="Calibri"/>
              </a:rPr>
              <a:t>Status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4.2σ is very suggestive but not yet 5σ 'discovery' threshold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New lattice QCD calculations partially reduce the discrepancy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Resolution expected within 2–3 years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24128"/>
            <a:ext cx="10515600" cy="457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13716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§10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Strong-Field QED and Beyond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868680"/>
            <a:ext cx="10360609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90E0EF"/>
                </a:solidFill>
                <a:latin typeface="Calibri"/>
              </a:rPr>
              <a:t>Schwinger Pair Production</a:t>
            </a:r>
          </a:p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CAD3E0"/>
                </a:solidFill>
                <a:latin typeface="Calibri"/>
              </a:rPr>
              <a:t>  •  In fields E ~ E_Schwinger, the vacuum itself becomes unstable</a:t>
            </a:r>
          </a:p>
          <a:p>
            <a:pPr algn="l">
              <a:spcBef>
                <a:spcPts val="600"/>
              </a:spcBef>
            </a:pPr>
            <a:r>
              <a:rPr sz="1500" b="0" i="1">
                <a:solidFill>
                  <a:srgbClr val="FFD166"/>
                </a:solidFill>
                <a:latin typeface="Calibri"/>
              </a:rPr>
              <a:t>E_c = m²c³/(eℏ) ≈ 1.3 × 10¹⁸ V/m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Real e⁺e⁻ pairs spontaneously produced from 'nothing'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Not yet observed — requires ~10× current peak laser intensity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ELI (Extreme Light Infrastructure) aims to approach this regime</a:t>
            </a:r>
          </a:p>
          <a:p>
            <a:pPr algn="l">
              <a:spcBef>
                <a:spcPts val="1000"/>
              </a:spcBef>
            </a:pPr>
            <a:r>
              <a:rPr sz="1700" b="1" i="0">
                <a:solidFill>
                  <a:srgbClr val="90E0EF"/>
                </a:solidFill>
                <a:latin typeface="Calibri"/>
              </a:rPr>
              <a:t>QED + Gravity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Hawking radiation — black holes emit thermal photons (semi-classical QED)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Unruh effect — accelerating observer sees vacuum as thermal photon bath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CAD3E0"/>
                </a:solidFill>
                <a:latin typeface="Calibri"/>
              </a:rPr>
              <a:t>    Full quantum gravity remains unsolved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33272"/>
            <a:ext cx="10515600" cy="457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13716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§10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What QED Does NOT Explain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868680"/>
            <a:ext cx="10360609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0584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D1B2A"/>
                          </a:solidFill>
                          <a:latin typeface="Calibri"/>
                        </a:rPr>
                        <a:t>Open Question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D1B2A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Why α ≈ 1/137?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Unknown — no derivation from first principles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Why 3 generations of fermions?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Why is e (electron charge) its specific value?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Magnetic monopoles?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Not observed; predicted by grand unified theories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Is the photon truly massless to all orders?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Yes — protected by gauge symmetry</a:t>
                      </a:r>
                    </a:p>
                  </a:txBody>
                  <a:tcPr>
                    <a:solidFill>
                      <a:srgbClr val="1A2E4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Muon g−2 anomaly?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CAD3E0"/>
                          </a:solidFill>
                          <a:latin typeface="Calibri"/>
                        </a:rPr>
                        <a:t>Under active investigation — possible BSM signal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13716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§∑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Key Equations — Quick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868680"/>
            <a:ext cx="10360609" cy="1905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4712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73152" cy="65836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02360"/>
            <a:ext cx="6858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FFD166"/>
                </a:solidFill>
                <a:latin typeface="Calibri"/>
              </a:rPr>
              <a:t>ℒ_QED = ψ̄(iγᵘDᵤ − mc/ℏ)ψ − (1/4)FᵘᵛFᵤᵥ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15316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  <a:latin typeface="Calibri"/>
              </a:rPr>
              <a:t>Full QED Lagrangian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20"/>
            <a:ext cx="1124712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74520"/>
            <a:ext cx="73152" cy="65836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25320"/>
            <a:ext cx="6858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FFD166"/>
                </a:solidFill>
                <a:latin typeface="Calibri"/>
              </a:rPr>
              <a:t>α = e²/(4πε₀ℏc) ≈ 1/137.036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97612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  <a:latin typeface="Calibri"/>
              </a:rPr>
              <a:t>Fine structure constant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97480"/>
            <a:ext cx="1124712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97480"/>
            <a:ext cx="73152" cy="65836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748280"/>
            <a:ext cx="6858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FFD166"/>
                </a:solidFill>
                <a:latin typeface="Calibri"/>
              </a:rPr>
              <a:t>E = |p|c   (m_γ = 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79908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  <a:latin typeface="Calibri"/>
              </a:rPr>
              <a:t>Photon dispersion — massless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20440"/>
            <a:ext cx="1124712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520440"/>
            <a:ext cx="73152" cy="65836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71240"/>
            <a:ext cx="6858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FFD166"/>
                </a:solidFill>
                <a:latin typeface="Calibri"/>
              </a:rPr>
              <a:t>g/2 = 1 + α/(2π) − 0.3285(α/π)² + 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36220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  <a:latin typeface="Calibri"/>
              </a:rPr>
              <a:t>Electron g-factor (QED)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43400"/>
            <a:ext cx="1124712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343400"/>
            <a:ext cx="73152" cy="65836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394200"/>
            <a:ext cx="6858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FFD166"/>
                </a:solidFill>
                <a:latin typeface="Calibri"/>
              </a:rPr>
              <a:t>P_Casimir = −π²ℏc / (240d⁴)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44500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  <a:latin typeface="Calibri"/>
              </a:rPr>
              <a:t>Casimir pressure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166360"/>
            <a:ext cx="11247120" cy="6583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166360"/>
            <a:ext cx="73152" cy="65836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217160"/>
            <a:ext cx="6858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FFD166"/>
                </a:solidFill>
                <a:latin typeface="Calibri"/>
              </a:rPr>
              <a:t>E_c = m²c³/(eℏ) ≈ 1.3 × 10¹⁸ V/m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526796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3E0"/>
                </a:solidFill>
                <a:latin typeface="Calibri"/>
              </a:rPr>
              <a:t>Schwinger critical field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0B4D8"/>
                </a:solidFill>
                <a:latin typeface="Calibri"/>
              </a:rPr>
              <a:t>QED: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The Most Precisely Tested Theory in Science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171" y="3017520"/>
            <a:ext cx="10360609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D166"/>
                </a:solidFill>
                <a:latin typeface="Calibri"/>
              </a:rPr>
              <a:t>"It has been a mystery ever since it was discovered more than fifty years ago,
and all good theoretical physicists put this number up on their wall and worry about it."
— Richard P. Feynman, on α ≈ 1/137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6B8C"/>
                </a:solidFill>
                <a:latin typeface="Calibri"/>
              </a:rPr>
              <a:t>Feynman  ·  Schwinger  ·  Tomonaga  ·  Dirac  ·  Maxwell  ·  Einstein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